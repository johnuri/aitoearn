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7AA2F7"/>
                </a:solidFill>
                <a:latin typeface="Calibri"/>
              </a:rPr>
              <a:t>Functional Analytic Psychotherapy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0CAF5"/>
                </a:solidFill>
                <a:latin typeface="Calibri"/>
              </a:rPr>
              <a:t>Using the therapeutic relationship itself to create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CE6A"/>
                </a:solidFill>
                <a:latin typeface="Calibri"/>
              </a:rPr>
              <a:t>Awareness  ·  Courage  ·  Love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is FAP?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0CAF5"/>
                </a:solidFill>
                <a:latin typeface="Calibri"/>
              </a:rPr>
              <a:t>A behavioral psychotherapy developed by Robert Kohlenberg and Mavis Tsai (1991).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0CAF5"/>
                </a:solidFill>
                <a:latin typeface="Calibri"/>
              </a:rPr>
              <a:t>Its core premise: meaningful change happens through a genuine, intense, and curative therapeutic relationship.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7AA2F7"/>
                </a:solidFill>
                <a:latin typeface="Calibri"/>
              </a:rPr>
              <a:t>Clinically Relevant Behaviors (CRBs)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9B1D6"/>
                </a:solidFill>
                <a:latin typeface="Calibri"/>
              </a:rPr>
              <a:t>The client's problems show up live, in the room, with the therapist.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7768E"/>
                </a:solidFill>
                <a:latin typeface="Calibri"/>
              </a:rPr>
              <a:t>CRB1  —  problem behaviors as they occur in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9ECE6A"/>
                </a:solidFill>
                <a:latin typeface="Calibri"/>
              </a:rPr>
              <a:t>CRB2  —  improvements that occur in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463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0AF68"/>
                </a:solidFill>
                <a:latin typeface="Calibri"/>
              </a:rPr>
              <a:t>CRB3  —  the client's own talk about their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Five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0CAF5"/>
                </a:solidFill>
                <a:latin typeface="Calibri"/>
              </a:rPr>
              <a:t>1  ·  Be aware — watch for CRBs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0CAF5"/>
                </a:solidFill>
                <a:latin typeface="Calibri"/>
              </a:rPr>
              <a:t>2  ·  Be courageous — evoke CRBs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0CAF5"/>
                </a:solidFill>
                <a:latin typeface="Calibri"/>
              </a:rPr>
              <a:t>3  ·  Be therapeutically loving — naturally reinforce CRB2s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3484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0CAF5"/>
                </a:solidFill>
                <a:latin typeface="Calibri"/>
              </a:rPr>
              <a:t>4  ·  Be aware of your impact on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0CAF5"/>
                </a:solidFill>
                <a:latin typeface="Calibri"/>
              </a:rPr>
              <a:t>5  ·  Interpret functionally &amp; generalize to daily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9ECE6A"/>
                </a:solidFill>
                <a:latin typeface="Calibri"/>
              </a:rPr>
              <a:t>Natural reinforcement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0CAF5"/>
                </a:solidFill>
                <a:latin typeface="Calibri"/>
              </a:rPr>
              <a:t>Change is driven by genuine, contingent responding to in-session improvements — not arbitrary praise. The therapist reacts as caring people would in the client's real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7AA2F7"/>
                </a:solidFill>
                <a:latin typeface="Calibri"/>
              </a:rPr>
              <a:t>The ACL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0CAF5"/>
                </a:solidFill>
                <a:latin typeface="Calibri"/>
              </a:rPr>
              <a:t>Awareness — notice what matters, in yourself and the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0CAF5"/>
                </a:solidFill>
                <a:latin typeface="Calibri"/>
              </a:rPr>
              <a:t>Courage — risk emotional exposure and vulnerability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0CAF5"/>
                </a:solidFill>
                <a:latin typeface="Calibri"/>
              </a:rPr>
              <a:t>Love — respond with genuine care and connection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0CAF5"/>
                </a:solidFill>
                <a:latin typeface="Calibri"/>
              </a:rPr>
              <a:t>By working with behavior as it unfolds in the relationship, FAP builds new interpersonal repertoires that the client can carry into life outside the therapy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7AA2F7"/>
                </a:solidFill>
                <a:latin typeface="Calibri"/>
              </a:rPr>
              <a:t>The relationship is the treatment.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ECE6A"/>
                </a:solidFill>
                <a:latin typeface="Calibri"/>
              </a:rPr>
              <a:t>Kohlenberg &amp; Tsai  ·  Functional Analytic Psychotherapy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